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7F0F0-ED8D-6EFB-301C-A9AB37844058}" v="208" dt="2026-06-01T11:19:33.713"/>
    <p1510:client id="{E6B1CCDF-5D1C-7DA7-A9F2-53931D6E684C}" v="18" dt="2026-06-01T09:31:43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B58A6-024A-4856-AE70-11E61966389D}" type="datetimeFigureOut"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C42C7-D0E0-4EBA-8F25-912FB458EF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4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2800" b="1">
                <a:solidFill>
                  <a:srgbClr val="3A5A40"/>
                </a:solidFill>
                <a:latin typeface="Calibri"/>
                <a:ea typeface="Calibri"/>
                <a:cs typeface="Calibri"/>
              </a:rPr>
              <a:t>A DBTL-based Bioinformatics Pipeline for Comparative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28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Pathway Annotation in Microalgae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i="1" dirty="0" err="1">
                <a:solidFill>
                  <a:srgbClr val="588157"/>
                </a:solidFill>
                <a:ea typeface="+mn-lt"/>
                <a:cs typeface="+mn-lt"/>
              </a:rPr>
              <a:t>Dunaliella</a:t>
            </a:r>
            <a:r>
              <a:rPr lang="en-US" sz="1600" i="1" dirty="0">
                <a:solidFill>
                  <a:srgbClr val="588157"/>
                </a:solidFill>
                <a:ea typeface="+mn-lt"/>
                <a:cs typeface="+mn-lt"/>
              </a:rPr>
              <a:t> salina </a:t>
            </a:r>
            <a:r>
              <a:rPr lang="en-US" sz="1600" dirty="0">
                <a:solidFill>
                  <a:srgbClr val="588157"/>
                </a:solidFill>
                <a:ea typeface="+mn-lt"/>
                <a:cs typeface="+mn-lt"/>
              </a:rPr>
              <a:t>vs</a:t>
            </a:r>
            <a:r>
              <a:rPr lang="en-US" sz="1600" i="1" dirty="0">
                <a:solidFill>
                  <a:srgbClr val="588157"/>
                </a:solidFill>
                <a:ea typeface="+mn-lt"/>
                <a:cs typeface="+mn-lt"/>
              </a:rPr>
              <a:t> </a:t>
            </a:r>
            <a:r>
              <a:rPr lang="en-US" sz="1600" i="1" dirty="0" err="1">
                <a:solidFill>
                  <a:srgbClr val="588157"/>
                </a:solidFill>
                <a:ea typeface="+mn-lt"/>
                <a:cs typeface="+mn-lt"/>
              </a:rPr>
              <a:t>Nannochloropsis</a:t>
            </a:r>
            <a:r>
              <a:rPr lang="en-US" sz="1600" i="1" dirty="0">
                <a:solidFill>
                  <a:srgbClr val="588157"/>
                </a:solidFill>
                <a:ea typeface="+mn-lt"/>
                <a:cs typeface="+mn-lt"/>
              </a:rPr>
              <a:t> </a:t>
            </a:r>
            <a:r>
              <a:rPr lang="en-US" sz="1600" i="1" dirty="0" err="1">
                <a:solidFill>
                  <a:srgbClr val="588157"/>
                </a:solidFill>
                <a:ea typeface="+mn-lt"/>
                <a:cs typeface="+mn-lt"/>
              </a:rPr>
              <a:t>gaditana</a:t>
            </a:r>
            <a:endParaRPr lang="en-US" i="1" dirty="0" err="1">
              <a:ea typeface="+mn-lt"/>
              <a:cs typeface="+mn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45720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383280"/>
            <a:ext cx="64008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Campos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Minho · School of Engineering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Óscar Dias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344E41"/>
                </a:solidFill>
                <a:latin typeface="Calibri"/>
                <a:ea typeface="Calibri"/>
                <a:cs typeface="Calibri"/>
              </a:rPr>
              <a:t>2026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Motivation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Dunaliella salina FACHB435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Halotolerant green microalga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β-carotene &gt; 10% dry weight under salt stress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 wall → easier extraction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~17,000 proteins (Chen et al., 2024)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Nannochloropsis gaditana B-31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eustigmatophyte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EPA (omega-3) — up to 38% of lipids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 biofuels and nutraceuticals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~10,929 proteins (strain B-31)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solidFill>
            <a:srgbClr val="F5FAF6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are fragmented across heterogeneous databases (NCBI, KEGG, UniProt), produced with different tools and without a shared benchmark. GEM approaches require extensive manual curation. No automated, reproducible pipeline exists for cross-species comparison.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DBTL Framework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10543" y="1031965"/>
            <a:ext cx="1874520" cy="1691640"/>
          </a:xfrm>
          <a:prstGeom prst="rect">
            <a:avLst/>
          </a:prstGeom>
          <a:solidFill>
            <a:srgbClr val="F5FAF6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10543" y="1031965"/>
            <a:ext cx="1874520" cy="45720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10543" y="1031965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2803942" y="1405889"/>
            <a:ext cx="1691640" cy="1319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survey (≥ 6)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selection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pathways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5570003" y="1040131"/>
            <a:ext cx="1874520" cy="1691640"/>
          </a:xfrm>
          <a:prstGeom prst="rect">
            <a:avLst/>
          </a:prstGeom>
          <a:solidFill>
            <a:srgbClr val="F5FAF6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0003" y="1031966"/>
            <a:ext cx="1874520" cy="45720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0003" y="1040131"/>
            <a:ext cx="1874520" cy="46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663402" y="1495698"/>
            <a:ext cx="1691640" cy="11478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Snakemake workflow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KofamScan (KO)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reCOGnyzer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5571962" y="2983230"/>
            <a:ext cx="1874520" cy="1691641"/>
          </a:xfrm>
          <a:prstGeom prst="rect">
            <a:avLst/>
          </a:prstGeom>
          <a:solidFill>
            <a:srgbClr val="F5FAF6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1962" y="2983230"/>
            <a:ext cx="1874520" cy="45720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1962" y="298323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5665361" y="3406140"/>
            <a:ext cx="1691640" cy="1319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/ F1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Swiss-Prot standard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Cunha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Cross-species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2716421" y="2983229"/>
            <a:ext cx="1882684" cy="1699805"/>
          </a:xfrm>
          <a:prstGeom prst="rect">
            <a:avLst/>
          </a:prstGeom>
          <a:solidFill>
            <a:srgbClr val="F5FAF6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32749" y="2975065"/>
            <a:ext cx="1874520" cy="45720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2749" y="2975065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817983" y="3577589"/>
            <a:ext cx="1699805" cy="1041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gaps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genes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Carbonell et al. (2018)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31" name="Arrow: Up 30">
            <a:extLst>
              <a:ext uri="{FF2B5EF4-FFF2-40B4-BE49-F238E27FC236}">
                <a16:creationId xmlns:a16="http://schemas.microsoft.com/office/drawing/2014/main" id="{E42F96C3-2DB4-7EF3-FF8F-3CA42D8CA549}"/>
              </a:ext>
            </a:extLst>
          </p:cNvPr>
          <p:cNvSpPr/>
          <p:nvPr/>
        </p:nvSpPr>
        <p:spPr>
          <a:xfrm>
            <a:off x="3587750" y="2751666"/>
            <a:ext cx="158750" cy="222250"/>
          </a:xfrm>
          <a:prstGeom prst="up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FDED66BC-EAB6-11C0-19F4-D5CA76BF20AB}"/>
              </a:ext>
            </a:extLst>
          </p:cNvPr>
          <p:cNvSpPr/>
          <p:nvPr/>
        </p:nvSpPr>
        <p:spPr>
          <a:xfrm rot="5400000">
            <a:off x="5000625" y="1815040"/>
            <a:ext cx="127000" cy="508000"/>
          </a:xfrm>
          <a:prstGeom prst="up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Up 32">
            <a:extLst>
              <a:ext uri="{FF2B5EF4-FFF2-40B4-BE49-F238E27FC236}">
                <a16:creationId xmlns:a16="http://schemas.microsoft.com/office/drawing/2014/main" id="{1E1D578D-D6BD-55C1-ECE1-A55D7C40FCA9}"/>
              </a:ext>
            </a:extLst>
          </p:cNvPr>
          <p:cNvSpPr/>
          <p:nvPr/>
        </p:nvSpPr>
        <p:spPr>
          <a:xfrm rot="10800000">
            <a:off x="6433344" y="2739759"/>
            <a:ext cx="150813" cy="206374"/>
          </a:xfrm>
          <a:prstGeom prst="up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Up 34">
            <a:extLst>
              <a:ext uri="{FF2B5EF4-FFF2-40B4-BE49-F238E27FC236}">
                <a16:creationId xmlns:a16="http://schemas.microsoft.com/office/drawing/2014/main" id="{282CEC4D-BD55-05BC-D4AA-732F690B0E48}"/>
              </a:ext>
            </a:extLst>
          </p:cNvPr>
          <p:cNvSpPr/>
          <p:nvPr/>
        </p:nvSpPr>
        <p:spPr>
          <a:xfrm rot="-5400000">
            <a:off x="5000625" y="3640665"/>
            <a:ext cx="127000" cy="508000"/>
          </a:xfrm>
          <a:prstGeom prst="up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Objectives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survey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≥ 6 annotation and pathway-prediction tools. Build a comparison matrix: scope, I/O, licence, API, containerisation.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two tools (KofamScan + DIAMOND) into a Snakemake workflow. Deposit in a public GitHub repository.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annotation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005840" y="32918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metabolic repertoires of both species, focusing on carotenoids (ko00906) and omega-3 (ko01040).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accuracy with sensitivity, specificity and F1 vs a Swiss-Prot gold standard. Validate against Cunha et al. (2025).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508760" cy="8686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FASTAs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1965960" y="1591056"/>
            <a:ext cx="192024" cy="27432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57984" y="1188720"/>
            <a:ext cx="1508760" cy="8686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57984" y="11887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KofamScan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 numbers)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666744" y="1591056"/>
            <a:ext cx="192024" cy="27432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58768" y="1188720"/>
            <a:ext cx="1508760" cy="8686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11887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coverage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367528" y="1591056"/>
            <a:ext cx="192024" cy="27432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59552" y="1188720"/>
            <a:ext cx="1508760" cy="8686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1887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Swiss-Prot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7068312" y="1591056"/>
            <a:ext cx="192024" cy="27432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0336" y="1188720"/>
            <a:ext cx="1508760" cy="868680"/>
          </a:xfrm>
          <a:prstGeom prst="rect">
            <a:avLst/>
          </a:prstGeom>
          <a:solidFill>
            <a:srgbClr val="588157"/>
          </a:solidFill>
          <a:ln w="12700">
            <a:solidFill>
              <a:srgbClr val="5881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1887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Snakemake  ·  Two annotation tools  ·  Public GitHub repository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16,697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salina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2157984" y="3200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10,929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2157984" y="37033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gaditana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858768" y="3200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3,366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3858768" y="37033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salina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559552" y="3200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3,199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5559552" y="37033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gaditana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7260336" y="3200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7260336" y="37033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DBTL Phase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Open-source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KofamScan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Design/Build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KO assignment (HMM)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Yes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DIAMOND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Test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Homology vs Swiss-Prot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Yes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reCOGnyzer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Build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COG annotation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Yes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KEGGCharter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Test/Learn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Pathway maps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Yes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Snakemake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Build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Workflow management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Yes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annotation tools (KofamScan + DIAMOND) integrated into the Snakemake workflow.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Functional Annotation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KofamScan — KO assignment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salina:  3,366 KOs (20.2% of 16,697 proteins)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gaditana:  3,199 KOs (29.3% of 10,929 proteins)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vs Swiss-Prot — homology annotation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salina:  42.2% annotated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gaditana:  51.8% annotated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5FAF6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Cross-species comparison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1,709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22960" y="4407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KOs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4747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907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474720" y="4407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salina only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12648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126480" y="4407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gaditana only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KEGG Pathway Coverage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846320" cy="2514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D. salina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N. gaditana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Complete (≥ 50%)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5A8A5C"/>
                          </a:solidFill>
                        </a:rPr>
                        <a:t>11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5A8A5C"/>
                          </a:solidFill>
                        </a:rPr>
                        <a:t>8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Partial (10–49%)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08438"/>
                          </a:solidFill>
                        </a:rPr>
                        <a:t>198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08438"/>
                          </a:solidFill>
                        </a:rPr>
                        <a:t>187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Absent (&lt; 10%)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05A52"/>
                          </a:solidFill>
                        </a:rPr>
                        <a:t>188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B05A52"/>
                          </a:solidFill>
                        </a:rPr>
                        <a:t>202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Total evaluated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397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397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pathways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5669280" y="1463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Carotenoids (ko00906): Partial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Omega-3 (ko01040): Partial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Glycolysis (ko00010): Complete</a:t>
            </a:r>
            <a:endParaRPr lang="en-US" sz="1150"/>
          </a:p>
        </p:txBody>
      </p:sp>
      <p:sp>
        <p:nvSpPr>
          <p:cNvPr id="7" name="Shape 4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5FAF6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95020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coverage is biologically expected: the KEGG reference KO sets include genes from bacteria, plants and fungi that microalgae do not possess.</a:t>
            </a:r>
            <a:endParaRPr lang="en-US" sz="1150"/>
          </a:p>
        </p:txBody>
      </p:sp>
      <p:sp>
        <p:nvSpPr>
          <p:cNvPr id="4" name="Text 6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Desaturase Validation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Cunha et al. (2025) — PUFA / omega-3 enzymes</a:t>
            </a:r>
            <a:endParaRPr lang="en-US" sz="11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KO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Enzyme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D. salina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N. gaditana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K00507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Δ9-desaturase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5A8A5C"/>
                          </a:solidFill>
                        </a:rPr>
                        <a:t>present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5A8A5C"/>
                          </a:solidFill>
                        </a:rPr>
                        <a:t>present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K10255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ω6-desaturase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5A8A5C"/>
                          </a:solidFill>
                        </a:rPr>
                        <a:t>present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5A8A5C"/>
                          </a:solidFill>
                        </a:rPr>
                        <a:t>present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K10257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ω3-desaturase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5A8A5C"/>
                          </a:solidFill>
                        </a:rPr>
                        <a:t>present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B05A52"/>
                          </a:solidFill>
                        </a:rPr>
                        <a:t>absent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K12418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344E41"/>
                          </a:solidFill>
                        </a:rPr>
                        <a:t>Δ4-desaturase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5A8A5C"/>
                          </a:solidFill>
                        </a:rPr>
                        <a:t>present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B05A52"/>
                          </a:solidFill>
                        </a:rPr>
                        <a:t>absent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5FAF6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salina has the complete desaturase set. The gaps in N. gaditana B-31 are confirmed present in strain CCMP1894 — a strain annotation limitation, not a true biological absence.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Benchmarking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Swiss-Prot hits with ≥ 30% identity and ≥ 50% coverage</a:t>
            </a:r>
            <a:endParaRPr lang="en-US" sz="11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01022"/>
              </p:ext>
            </p:extLst>
          </p:nvPr>
        </p:nvGraphicFramePr>
        <p:xfrm>
          <a:off x="457200" y="1325880"/>
          <a:ext cx="4846320" cy="2514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81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D. salina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N.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gaditana</a:t>
                      </a:r>
                      <a:endParaRPr lang="en-US" sz="1200" dirty="0" err="1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A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Sensitivity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5A8A5C"/>
                          </a:solidFill>
                        </a:rPr>
                        <a:t>0.53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4A7A99"/>
                          </a:solidFill>
                        </a:rPr>
                        <a:t>0.61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Specificity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5A8A5C"/>
                          </a:solidFill>
                        </a:rPr>
                        <a:t>0.93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4A7A99"/>
                          </a:solidFill>
                        </a:rPr>
                        <a:t>0.88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Precision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5A8A5C"/>
                          </a:solidFill>
                        </a:rPr>
                        <a:t>0.72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4A7A99"/>
                          </a:solidFill>
                        </a:rPr>
                        <a:t>0.70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44E41"/>
                          </a:solidFill>
                        </a:rPr>
                        <a:t>F1 score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5A8A5C"/>
                          </a:solidFill>
                        </a:rPr>
                        <a:t>0.61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4A7A99"/>
                          </a:solidFill>
                        </a:rPr>
                        <a:t>0.65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554480"/>
            <a:ext cx="32004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344E41"/>
                </a:solidFill>
                <a:ea typeface="+mn-lt"/>
                <a:cs typeface="+mn-lt"/>
              </a:rPr>
              <a:t>Complementary profiles:</a:t>
            </a:r>
            <a:br>
              <a:rPr lang="en-US" sz="1200" b="1" dirty="0">
                <a:solidFill>
                  <a:srgbClr val="344E41"/>
                </a:solidFill>
                <a:ea typeface="+mn-lt"/>
                <a:cs typeface="+mn-lt"/>
              </a:rPr>
            </a:br>
            <a:r>
              <a:rPr lang="en-US" sz="1200" dirty="0">
                <a:solidFill>
                  <a:srgbClr val="344E41"/>
                </a:solidFill>
                <a:ea typeface="+mn-lt"/>
                <a:cs typeface="+mn-lt"/>
              </a:rPr>
              <a:t>N. </a:t>
            </a:r>
            <a:r>
              <a:rPr lang="en-US" sz="1200" dirty="0" err="1">
                <a:solidFill>
                  <a:srgbClr val="344E41"/>
                </a:solidFill>
                <a:ea typeface="+mn-lt"/>
                <a:cs typeface="+mn-lt"/>
              </a:rPr>
              <a:t>gaditana</a:t>
            </a:r>
            <a:r>
              <a:rPr lang="en-US" sz="1200" dirty="0">
                <a:solidFill>
                  <a:srgbClr val="344E41"/>
                </a:solidFill>
                <a:ea typeface="+mn-lt"/>
                <a:cs typeface="+mn-lt"/>
              </a:rPr>
              <a:t> shows higher sensitivity and F1, while D. salina has higher specificity and precision — both annotators perform comparably, with strengths in different metrics.</a:t>
            </a:r>
            <a:r>
              <a:rPr lang="en-US" sz="1200" dirty="0">
                <a:solidFill>
                  <a:srgbClr val="344E4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placeholders — replace with the final notebook output.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Pathway Maps (KEGGCharter)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762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rgbClr val="588157"/>
                </a:solidFill>
                <a:ea typeface="+mn-lt"/>
                <a:cs typeface="+mn-lt"/>
              </a:rPr>
              <a:t>Comparison: </a:t>
            </a:r>
            <a:r>
              <a:rPr lang="en-US" sz="1100" b="1">
                <a:solidFill>
                  <a:srgbClr val="588157"/>
                </a:solidFill>
                <a:ea typeface="+mn-lt"/>
                <a:cs typeface="+mn-lt"/>
              </a:rPr>
              <a:t>differential Biosynthesis</a:t>
            </a:r>
            <a:r>
              <a:rPr lang="en-US" sz="1100" b="1" dirty="0">
                <a:solidFill>
                  <a:srgbClr val="588157"/>
                </a:solidFill>
                <a:ea typeface="+mn-lt"/>
                <a:cs typeface="+mn-lt"/>
              </a:rPr>
              <a:t> of unsaturated fatty acids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40338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rgbClr val="588157"/>
                </a:solidFill>
                <a:ea typeface="+mn-lt"/>
                <a:cs typeface="+mn-lt"/>
              </a:rPr>
              <a:t>Comparison: </a:t>
            </a:r>
            <a:r>
              <a:rPr lang="en-US" sz="1100" b="1">
                <a:solidFill>
                  <a:srgbClr val="588157"/>
                </a:solidFill>
                <a:ea typeface="+mn-lt"/>
                <a:cs typeface="+mn-lt"/>
              </a:rPr>
              <a:t>differential Carotenoid</a:t>
            </a:r>
            <a:r>
              <a:rPr lang="en-US" sz="1100" b="1" dirty="0">
                <a:solidFill>
                  <a:srgbClr val="588157"/>
                </a:solidFill>
                <a:ea typeface="+mn-lt"/>
                <a:cs typeface="+mn-lt"/>
              </a:rPr>
              <a:t> biosynthesis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B7DB70-4C15-19F5-B8BD-49AD27A0C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51" y="1293813"/>
            <a:ext cx="2817620" cy="2492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F84A87-4D06-8C11-3AA4-30A6225EC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121" y="1293813"/>
            <a:ext cx="4302695" cy="2492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A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Future Work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B7CDBC"/>
          </a:solidFill>
          <a:ln w="12700">
            <a:solidFill>
              <a:srgbClr val="B7CD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open-source pipeline built in Snakemake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salina has a complete PUFA desaturase set; N. gaditana B-31 shows strain-level gaps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coverage of carotenoid and omega-3 pathways is biologically expected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validated against Cunha et al. (2025)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strain CCMP1894 for N. gaditana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transcriptomics and Docker containerisation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32104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 Pipeline for Comparative Metabolic Pathway Annotation in Microalgae</dc:title>
  <dc:subject>PptxGenJS Presentation</dc:subject>
  <dc:creator>José Campos</dc:creator>
  <cp:revision>71</cp:revision>
  <dcterms:created xsi:type="dcterms:W3CDTF">2026-06-01T03:49:40Z</dcterms:created>
  <dcterms:modified xsi:type="dcterms:W3CDTF">2026-06-01T11:23:57Z</dcterms:modified>
</cp:coreProperties>
</file>